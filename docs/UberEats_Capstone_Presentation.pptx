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1675"/>
  <p:notesSz cx="6858000" cy="9144000"/>
  <p:embeddedFontLst>
    <p:embeddedFont>
      <p:font typeface="Lexend ExtraBold"/>
      <p:bold r:id="rId21"/>
    </p:embeddedFont>
    <p:embeddedFont>
      <p:font typeface="Lexen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BA314B-CF25-43E4-ACC4-AB74171B23F0}">
  <a:tblStyle styleId="{38BA314B-CF25-43E4-ACC4-AB74171B23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Lexend-regular.fntdata"/><Relationship Id="rId10" Type="http://schemas.openxmlformats.org/officeDocument/2006/relationships/slide" Target="slides/slide4.xml"/><Relationship Id="rId21" Type="http://schemas.openxmlformats.org/officeDocument/2006/relationships/font" Target="fonts/LexendExtra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exe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F3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052560" y="548640"/>
            <a:ext cx="2194560" cy="2194560"/>
          </a:xfrm>
          <a:prstGeom prst="ellipse">
            <a:avLst/>
          </a:prstGeom>
          <a:solidFill>
            <a:srgbClr val="192D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875520" y="3383280"/>
            <a:ext cx="1371600" cy="1371600"/>
          </a:xfrm>
          <a:prstGeom prst="ellipse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138160" y="4389120"/>
            <a:ext cx="731520" cy="731520"/>
          </a:xfrm>
          <a:prstGeom prst="ellipse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77240" y="777240"/>
            <a:ext cx="6217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C4F1E5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UBER EATS</a:t>
            </a:r>
            <a:endParaRPr sz="1900"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7240" y="1508760"/>
            <a:ext cx="79554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Operational &amp; Customer</a:t>
            </a:r>
            <a:br>
              <a:rPr b="1" lang="en-US" sz="4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n-US" sz="4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Intelligence System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22960" y="3429000"/>
            <a:ext cx="68580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FDCE8"/>
                </a:solidFill>
              </a:rPr>
              <a:t>An end-to-end machine learning capstone project</a:t>
            </a:r>
            <a:endParaRPr b="1" sz="1700"/>
          </a:p>
        </p:txBody>
      </p:sp>
      <p:sp>
        <p:nvSpPr>
          <p:cNvPr id="90" name="Google Shape;90;p13"/>
          <p:cNvSpPr txBox="1"/>
          <p:nvPr/>
        </p:nvSpPr>
        <p:spPr>
          <a:xfrm>
            <a:off x="822960" y="3947455"/>
            <a:ext cx="795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4F1E5"/>
                </a:solidFill>
                <a:latin typeface="Arial"/>
                <a:ea typeface="Arial"/>
                <a:cs typeface="Arial"/>
                <a:sym typeface="Arial"/>
              </a:rPr>
              <a:t>Customer analytics  •  NLP  •  Delivery prediction  •  Demand forecasting</a:t>
            </a:r>
            <a:endParaRPr sz="1600"/>
          </a:p>
        </p:txBody>
      </p:sp>
      <p:sp>
        <p:nvSpPr>
          <p:cNvPr id="91" name="Google Shape;91;p1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B4C4D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594378" y="382615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Business Problem &amp; Project Objectives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01 / CONTEXT</a:t>
            </a:r>
            <a:endParaRPr sz="1700"/>
          </a:p>
        </p:txBody>
      </p:sp>
      <p:sp>
        <p:nvSpPr>
          <p:cNvPr id="98" name="Google Shape;98;p14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31520" y="123444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Food-delivery platforms generate data across customers, restaurants, orders, reviews and deliveries. The challenge is turning these separate data sources into operational decisions.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31520" y="2423160"/>
            <a:ext cx="342900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31520" y="2423160"/>
            <a:ext cx="64008" cy="2240280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32688" y="2587752"/>
            <a:ext cx="3063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Understand customers</a:t>
            </a:r>
            <a:endParaRPr sz="1800"/>
          </a:p>
        </p:txBody>
      </p:sp>
      <p:sp>
        <p:nvSpPr>
          <p:cNvPr id="104" name="Google Shape;104;p14"/>
          <p:cNvSpPr txBox="1"/>
          <p:nvPr/>
        </p:nvSpPr>
        <p:spPr>
          <a:xfrm>
            <a:off x="932688" y="3017520"/>
            <a:ext cx="30450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Identify customer groups and ordering behaviour to support targeted engagement.</a:t>
            </a:r>
            <a:endParaRPr sz="1800"/>
          </a:p>
        </p:txBody>
      </p:sp>
      <p:sp>
        <p:nvSpPr>
          <p:cNvPr id="105" name="Google Shape;105;p14"/>
          <p:cNvSpPr/>
          <p:nvPr/>
        </p:nvSpPr>
        <p:spPr>
          <a:xfrm>
            <a:off x="4389120" y="2423160"/>
            <a:ext cx="342900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389120" y="2423160"/>
            <a:ext cx="64008" cy="2240280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590288" y="2587752"/>
            <a:ext cx="3063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Improve operations</a:t>
            </a:r>
            <a:endParaRPr sz="1800"/>
          </a:p>
        </p:txBody>
      </p:sp>
      <p:sp>
        <p:nvSpPr>
          <p:cNvPr id="108" name="Google Shape;108;p14"/>
          <p:cNvSpPr txBox="1"/>
          <p:nvPr/>
        </p:nvSpPr>
        <p:spPr>
          <a:xfrm>
            <a:off x="4590288" y="3017520"/>
            <a:ext cx="30450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Understand delivery performance and estimate delivery time.</a:t>
            </a:r>
            <a:endParaRPr sz="1800"/>
          </a:p>
        </p:txBody>
      </p:sp>
      <p:sp>
        <p:nvSpPr>
          <p:cNvPr id="109" name="Google Shape;109;p14"/>
          <p:cNvSpPr/>
          <p:nvPr/>
        </p:nvSpPr>
        <p:spPr>
          <a:xfrm>
            <a:off x="8046720" y="2423160"/>
            <a:ext cx="342900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046720" y="2423160"/>
            <a:ext cx="64008" cy="2240280"/>
          </a:xfrm>
          <a:prstGeom prst="rect">
            <a:avLst/>
          </a:prstGeom>
          <a:solidFill>
            <a:srgbClr val="3D97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247888" y="2587752"/>
            <a:ext cx="3063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Plan demand</a:t>
            </a:r>
            <a:endParaRPr sz="1800"/>
          </a:p>
        </p:txBody>
      </p:sp>
      <p:sp>
        <p:nvSpPr>
          <p:cNvPr id="112" name="Google Shape;112;p14"/>
          <p:cNvSpPr txBox="1"/>
          <p:nvPr/>
        </p:nvSpPr>
        <p:spPr>
          <a:xfrm>
            <a:off x="8247888" y="3017520"/>
            <a:ext cx="30450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Analyze customer feedback and forecast hourly order demand.</a:t>
            </a:r>
            <a:endParaRPr sz="1800"/>
          </a:p>
        </p:txBody>
      </p:sp>
      <p:sp>
        <p:nvSpPr>
          <p:cNvPr id="113" name="Google Shape;113;p14"/>
          <p:cNvSpPr txBox="1"/>
          <p:nvPr/>
        </p:nvSpPr>
        <p:spPr>
          <a:xfrm>
            <a:off x="822960" y="5166360"/>
            <a:ext cx="10424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Project goal: </a:t>
            </a:r>
            <a:r>
              <a:rPr b="1" lang="en-US" sz="2100">
                <a:solidFill>
                  <a:srgbClr val="23303E"/>
                </a:solidFill>
              </a:rPr>
              <a:t>B</a:t>
            </a:r>
            <a:r>
              <a:rPr b="1" lang="en-US" sz="21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uild an integrated analytical workflow and translate model outputs into practical business recommendations.</a:t>
            </a:r>
            <a:endParaRPr sz="1800"/>
          </a:p>
        </p:txBody>
      </p:sp>
      <p:sp>
        <p:nvSpPr>
          <p:cNvPr id="114" name="Google Shape;114;p14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/>
        </p:nvSpPr>
        <p:spPr>
          <a:xfrm>
            <a:off x="548678" y="382602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Dataset Overview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594360" y="109703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02 / DATA</a:t>
            </a:r>
            <a:endParaRPr sz="1700"/>
          </a:p>
        </p:txBody>
      </p:sp>
      <p:sp>
        <p:nvSpPr>
          <p:cNvPr id="122" name="Google Shape;122;p15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31520" y="1170432"/>
            <a:ext cx="105156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Seven synthetic datasets represent the main entities and activities of a food-delivery platform.</a:t>
            </a:r>
            <a:endParaRPr sz="1600"/>
          </a:p>
        </p:txBody>
      </p:sp>
      <p:graphicFrame>
        <p:nvGraphicFramePr>
          <p:cNvPr id="125" name="Google Shape;125;p15"/>
          <p:cNvGraphicFramePr/>
          <p:nvPr/>
        </p:nvGraphicFramePr>
        <p:xfrm>
          <a:off x="77724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{38BA314B-CF25-43E4-ACC4-AB74171B23F0}</a:tableStyleId>
              </a:tblPr>
              <a:tblGrid>
                <a:gridCol w="1828800"/>
                <a:gridCol w="1143000"/>
                <a:gridCol w="4343400"/>
              </a:tblGrid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Rows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Purpose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2,000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profile and membership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Restaurants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Restaurant profile and performance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10,000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 activity and value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Deliveries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8,808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Delivery operations and timing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Drivers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Driver profile and rating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Payments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10,000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Payment transactions and status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Reviews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5,968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feedback and sentiment</a:t>
                      </a:r>
                      <a:endParaRPr sz="19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5"/>
          <p:cNvSpPr/>
          <p:nvPr/>
        </p:nvSpPr>
        <p:spPr>
          <a:xfrm>
            <a:off x="8412480" y="1874519"/>
            <a:ext cx="283464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412480" y="1874519"/>
            <a:ext cx="64008" cy="1508760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613648" y="1961312"/>
            <a:ext cx="2469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sz="1900"/>
          </a:p>
        </p:txBody>
      </p:sp>
      <p:sp>
        <p:nvSpPr>
          <p:cNvPr id="129" name="Google Shape;129;p15"/>
          <p:cNvSpPr txBox="1"/>
          <p:nvPr/>
        </p:nvSpPr>
        <p:spPr>
          <a:xfrm>
            <a:off x="8604448" y="2358504"/>
            <a:ext cx="24507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Synthetic datasets generated for this capstone.</a:t>
            </a:r>
            <a:endParaRPr sz="1800"/>
          </a:p>
        </p:txBody>
      </p:sp>
      <p:sp>
        <p:nvSpPr>
          <p:cNvPr id="130" name="Google Shape;130;p15"/>
          <p:cNvSpPr/>
          <p:nvPr/>
        </p:nvSpPr>
        <p:spPr>
          <a:xfrm>
            <a:off x="8412480" y="3657600"/>
            <a:ext cx="283464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8412480" y="3657600"/>
            <a:ext cx="64008" cy="1508760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8613648" y="3721066"/>
            <a:ext cx="2469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 sz="1900"/>
          </a:p>
        </p:txBody>
      </p:sp>
      <p:sp>
        <p:nvSpPr>
          <p:cNvPr id="133" name="Google Shape;133;p15"/>
          <p:cNvSpPr txBox="1"/>
          <p:nvPr/>
        </p:nvSpPr>
        <p:spPr>
          <a:xfrm>
            <a:off x="8604448" y="4118285"/>
            <a:ext cx="24507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Customer, restaurant, order, payment, delivery and review data.</a:t>
            </a:r>
            <a:endParaRPr sz="1800"/>
          </a:p>
        </p:txBody>
      </p:sp>
      <p:sp>
        <p:nvSpPr>
          <p:cNvPr id="134" name="Google Shape;134;p15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/>
        </p:nvSpPr>
        <p:spPr>
          <a:xfrm>
            <a:off x="548678" y="368315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Data Preparation &amp; Quality Checks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03 / DATA PREPARATION</a:t>
            </a:r>
            <a:endParaRPr sz="1700"/>
          </a:p>
        </p:txBody>
      </p:sp>
      <p:sp>
        <p:nvSpPr>
          <p:cNvPr id="142" name="Google Shape;142;p16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31520" y="132588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31520" y="1325880"/>
            <a:ext cx="64008" cy="1828800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932688" y="1490472"/>
            <a:ext cx="3063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 sz="1900"/>
          </a:p>
        </p:txBody>
      </p:sp>
      <p:sp>
        <p:nvSpPr>
          <p:cNvPr id="147" name="Google Shape;147;p16"/>
          <p:cNvSpPr txBox="1"/>
          <p:nvPr/>
        </p:nvSpPr>
        <p:spPr>
          <a:xfrm>
            <a:off x="932688" y="1920240"/>
            <a:ext cx="30450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Seven source CSV files stored separately in `data/raw/`.</a:t>
            </a:r>
            <a:endParaRPr sz="1800"/>
          </a:p>
        </p:txBody>
      </p:sp>
      <p:sp>
        <p:nvSpPr>
          <p:cNvPr id="148" name="Google Shape;148;p16"/>
          <p:cNvSpPr/>
          <p:nvPr/>
        </p:nvSpPr>
        <p:spPr>
          <a:xfrm>
            <a:off x="4389120" y="132588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389120" y="1325880"/>
            <a:ext cx="64008" cy="1828800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571963" y="1376747"/>
            <a:ext cx="3063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Cleaning pipeline</a:t>
            </a:r>
            <a:endParaRPr sz="1900"/>
          </a:p>
        </p:txBody>
      </p:sp>
      <p:sp>
        <p:nvSpPr>
          <p:cNvPr id="151" name="Google Shape;151;p16"/>
          <p:cNvSpPr txBox="1"/>
          <p:nvPr/>
        </p:nvSpPr>
        <p:spPr>
          <a:xfrm>
            <a:off x="4590288" y="1920240"/>
            <a:ext cx="3045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Reusable Python script for duplicate checks, whitespace trimming, type conversion and review-text cleaning.</a:t>
            </a:r>
            <a:endParaRPr sz="1600"/>
          </a:p>
        </p:txBody>
      </p:sp>
      <p:sp>
        <p:nvSpPr>
          <p:cNvPr id="152" name="Google Shape;152;p16"/>
          <p:cNvSpPr/>
          <p:nvPr/>
        </p:nvSpPr>
        <p:spPr>
          <a:xfrm>
            <a:off x="8046720" y="132588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8046720" y="1325880"/>
            <a:ext cx="64008" cy="1828800"/>
          </a:xfrm>
          <a:prstGeom prst="rect">
            <a:avLst/>
          </a:prstGeom>
          <a:solidFill>
            <a:srgbClr val="3D97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247888" y="1490472"/>
            <a:ext cx="3063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1900"/>
          </a:p>
        </p:txBody>
      </p:sp>
      <p:sp>
        <p:nvSpPr>
          <p:cNvPr id="155" name="Google Shape;155;p16"/>
          <p:cNvSpPr txBox="1"/>
          <p:nvPr/>
        </p:nvSpPr>
        <p:spPr>
          <a:xfrm>
            <a:off x="8247888" y="1920240"/>
            <a:ext cx="3045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Primary keys and foreign-key relationships checked before saving cleaned copies.</a:t>
            </a:r>
            <a:endParaRPr sz="1800"/>
          </a:p>
        </p:txBody>
      </p:sp>
      <p:sp>
        <p:nvSpPr>
          <p:cNvPr id="156" name="Google Shape;156;p16"/>
          <p:cNvSpPr/>
          <p:nvPr/>
        </p:nvSpPr>
        <p:spPr>
          <a:xfrm>
            <a:off x="914400" y="3794760"/>
            <a:ext cx="21945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024078" y="3812213"/>
            <a:ext cx="1975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700"/>
          </a:p>
        </p:txBody>
      </p:sp>
      <p:sp>
        <p:nvSpPr>
          <p:cNvPr id="158" name="Google Shape;158;p16"/>
          <p:cNvSpPr txBox="1"/>
          <p:nvPr/>
        </p:nvSpPr>
        <p:spPr>
          <a:xfrm>
            <a:off x="1024078" y="4317114"/>
            <a:ext cx="19752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datasets processed</a:t>
            </a:r>
            <a:endParaRPr sz="1700"/>
          </a:p>
        </p:txBody>
      </p:sp>
      <p:sp>
        <p:nvSpPr>
          <p:cNvPr id="159" name="Google Shape;159;p16"/>
          <p:cNvSpPr/>
          <p:nvPr/>
        </p:nvSpPr>
        <p:spPr>
          <a:xfrm>
            <a:off x="3520440" y="3794760"/>
            <a:ext cx="21945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3630118" y="3812213"/>
            <a:ext cx="1975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700"/>
          </a:p>
        </p:txBody>
      </p:sp>
      <p:sp>
        <p:nvSpPr>
          <p:cNvPr id="161" name="Google Shape;161;p16"/>
          <p:cNvSpPr txBox="1"/>
          <p:nvPr/>
        </p:nvSpPr>
        <p:spPr>
          <a:xfrm>
            <a:off x="3630106" y="4290564"/>
            <a:ext cx="1975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duplicate rows removed</a:t>
            </a:r>
            <a:endParaRPr sz="1700"/>
          </a:p>
        </p:txBody>
      </p:sp>
      <p:sp>
        <p:nvSpPr>
          <p:cNvPr id="162" name="Google Shape;162;p16"/>
          <p:cNvSpPr/>
          <p:nvPr/>
        </p:nvSpPr>
        <p:spPr>
          <a:xfrm>
            <a:off x="6126480" y="3794760"/>
            <a:ext cx="21945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6181358" y="3794738"/>
            <a:ext cx="1975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700"/>
          </a:p>
        </p:txBody>
      </p:sp>
      <p:sp>
        <p:nvSpPr>
          <p:cNvPr id="164" name="Google Shape;164;p16"/>
          <p:cNvSpPr txBox="1"/>
          <p:nvPr/>
        </p:nvSpPr>
        <p:spPr>
          <a:xfrm>
            <a:off x="6236171" y="4290564"/>
            <a:ext cx="1975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missing values after conversion</a:t>
            </a:r>
            <a:endParaRPr sz="1700"/>
          </a:p>
        </p:txBody>
      </p:sp>
      <p:sp>
        <p:nvSpPr>
          <p:cNvPr id="165" name="Google Shape;165;p16"/>
          <p:cNvSpPr/>
          <p:nvPr/>
        </p:nvSpPr>
        <p:spPr>
          <a:xfrm>
            <a:off x="8732520" y="3794760"/>
            <a:ext cx="21945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8732523" y="3841463"/>
            <a:ext cx="1975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700"/>
          </a:p>
        </p:txBody>
      </p:sp>
      <p:sp>
        <p:nvSpPr>
          <p:cNvPr id="167" name="Google Shape;167;p16"/>
          <p:cNvSpPr txBox="1"/>
          <p:nvPr/>
        </p:nvSpPr>
        <p:spPr>
          <a:xfrm>
            <a:off x="8842148" y="4290564"/>
            <a:ext cx="1975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unmatched foreign keys</a:t>
            </a:r>
            <a:endParaRPr sz="1700"/>
          </a:p>
        </p:txBody>
      </p:sp>
      <p:sp>
        <p:nvSpPr>
          <p:cNvPr id="168" name="Google Shape;168;p16"/>
          <p:cNvSpPr txBox="1"/>
          <p:nvPr/>
        </p:nvSpPr>
        <p:spPr>
          <a:xfrm>
            <a:off x="914400" y="5257800"/>
            <a:ext cx="10149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Cleaned copies are saved in `data/processed/cleaned_raw/`; original raw files are preserved.</a:t>
            </a:r>
            <a:endParaRPr sz="1700"/>
          </a:p>
        </p:txBody>
      </p:sp>
      <p:sp>
        <p:nvSpPr>
          <p:cNvPr id="169" name="Google Shape;169;p16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/>
        </p:nvSpPr>
        <p:spPr>
          <a:xfrm>
            <a:off x="594390" y="382602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End-to-End Project Workflow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04 / METHODOLOGY</a:t>
            </a:r>
            <a:endParaRPr sz="1700"/>
          </a:p>
        </p:txBody>
      </p:sp>
      <p:sp>
        <p:nvSpPr>
          <p:cNvPr id="177" name="Google Shape;177;p17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321410" y="1980210"/>
            <a:ext cx="150870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431138" y="2117370"/>
            <a:ext cx="41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600"/>
          </a:p>
        </p:txBody>
      </p:sp>
      <p:sp>
        <p:nvSpPr>
          <p:cNvPr id="181" name="Google Shape;181;p17"/>
          <p:cNvSpPr txBox="1"/>
          <p:nvPr/>
        </p:nvSpPr>
        <p:spPr>
          <a:xfrm>
            <a:off x="449438" y="2350862"/>
            <a:ext cx="12894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Data generation</a:t>
            </a:r>
            <a:b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&amp; cleaning</a:t>
            </a:r>
            <a:endParaRPr sz="1800"/>
          </a:p>
        </p:txBody>
      </p:sp>
      <p:sp>
        <p:nvSpPr>
          <p:cNvPr id="182" name="Google Shape;182;p17"/>
          <p:cNvSpPr txBox="1"/>
          <p:nvPr/>
        </p:nvSpPr>
        <p:spPr>
          <a:xfrm>
            <a:off x="1839313" y="2547138"/>
            <a:ext cx="164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/>
          </a:p>
        </p:txBody>
      </p:sp>
      <p:sp>
        <p:nvSpPr>
          <p:cNvPr id="183" name="Google Shape;183;p17"/>
          <p:cNvSpPr/>
          <p:nvPr/>
        </p:nvSpPr>
        <p:spPr>
          <a:xfrm>
            <a:off x="1994762" y="1980210"/>
            <a:ext cx="150870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2104490" y="2117370"/>
            <a:ext cx="41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600"/>
          </a:p>
        </p:txBody>
      </p:sp>
      <p:sp>
        <p:nvSpPr>
          <p:cNvPr id="185" name="Google Shape;185;p17"/>
          <p:cNvSpPr txBox="1"/>
          <p:nvPr/>
        </p:nvSpPr>
        <p:spPr>
          <a:xfrm>
            <a:off x="2113640" y="2373962"/>
            <a:ext cx="1289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EDA &amp; feature</a:t>
            </a:r>
            <a:br>
              <a:rPr b="1" lang="en-US" sz="16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6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sz="1700"/>
          </a:p>
        </p:txBody>
      </p:sp>
      <p:sp>
        <p:nvSpPr>
          <p:cNvPr id="186" name="Google Shape;186;p17"/>
          <p:cNvSpPr txBox="1"/>
          <p:nvPr/>
        </p:nvSpPr>
        <p:spPr>
          <a:xfrm>
            <a:off x="3512665" y="2547138"/>
            <a:ext cx="164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/>
          </a:p>
        </p:txBody>
      </p:sp>
      <p:sp>
        <p:nvSpPr>
          <p:cNvPr id="187" name="Google Shape;187;p17"/>
          <p:cNvSpPr/>
          <p:nvPr/>
        </p:nvSpPr>
        <p:spPr>
          <a:xfrm>
            <a:off x="3668113" y="1980210"/>
            <a:ext cx="150870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3777841" y="2117370"/>
            <a:ext cx="41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600"/>
          </a:p>
        </p:txBody>
      </p:sp>
      <p:sp>
        <p:nvSpPr>
          <p:cNvPr id="189" name="Google Shape;189;p17"/>
          <p:cNvSpPr txBox="1"/>
          <p:nvPr/>
        </p:nvSpPr>
        <p:spPr>
          <a:xfrm>
            <a:off x="3786991" y="2420162"/>
            <a:ext cx="1289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Segmentation</a:t>
            </a:r>
            <a:br>
              <a:rPr b="1" lang="en-US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(K-Means / DBSCAN)</a:t>
            </a:r>
            <a:endParaRPr sz="1500"/>
          </a:p>
        </p:txBody>
      </p:sp>
      <p:sp>
        <p:nvSpPr>
          <p:cNvPr id="190" name="Google Shape;190;p17"/>
          <p:cNvSpPr txBox="1"/>
          <p:nvPr/>
        </p:nvSpPr>
        <p:spPr>
          <a:xfrm>
            <a:off x="5186017" y="2547138"/>
            <a:ext cx="164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/>
          </a:p>
        </p:txBody>
      </p:sp>
      <p:sp>
        <p:nvSpPr>
          <p:cNvPr id="191" name="Google Shape;191;p17"/>
          <p:cNvSpPr/>
          <p:nvPr/>
        </p:nvSpPr>
        <p:spPr>
          <a:xfrm>
            <a:off x="5341466" y="1980210"/>
            <a:ext cx="150870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5451194" y="2117370"/>
            <a:ext cx="41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600"/>
          </a:p>
        </p:txBody>
      </p:sp>
      <p:sp>
        <p:nvSpPr>
          <p:cNvPr id="193" name="Google Shape;193;p17"/>
          <p:cNvSpPr txBox="1"/>
          <p:nvPr/>
        </p:nvSpPr>
        <p:spPr>
          <a:xfrm>
            <a:off x="5460344" y="2350862"/>
            <a:ext cx="12894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NLP sentiment</a:t>
            </a:r>
            <a:b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1800"/>
          </a:p>
        </p:txBody>
      </p:sp>
      <p:sp>
        <p:nvSpPr>
          <p:cNvPr id="194" name="Google Shape;194;p17"/>
          <p:cNvSpPr txBox="1"/>
          <p:nvPr/>
        </p:nvSpPr>
        <p:spPr>
          <a:xfrm>
            <a:off x="6859369" y="2547138"/>
            <a:ext cx="164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/>
          </a:p>
        </p:txBody>
      </p:sp>
      <p:sp>
        <p:nvSpPr>
          <p:cNvPr id="195" name="Google Shape;195;p17"/>
          <p:cNvSpPr/>
          <p:nvPr/>
        </p:nvSpPr>
        <p:spPr>
          <a:xfrm>
            <a:off x="7014818" y="1980210"/>
            <a:ext cx="150870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7124546" y="2117370"/>
            <a:ext cx="41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600"/>
          </a:p>
        </p:txBody>
      </p:sp>
      <p:sp>
        <p:nvSpPr>
          <p:cNvPr id="197" name="Google Shape;197;p17"/>
          <p:cNvSpPr txBox="1"/>
          <p:nvPr/>
        </p:nvSpPr>
        <p:spPr>
          <a:xfrm>
            <a:off x="7133696" y="2385875"/>
            <a:ext cx="12894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Delivery </a:t>
            </a:r>
            <a:endParaRPr b="1" sz="1700">
              <a:solidFill>
                <a:srgbClr val="111F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F34"/>
                </a:solidFill>
              </a:rPr>
              <a:t>t</a:t>
            </a: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ime</a:t>
            </a:r>
            <a:b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sz="1800"/>
          </a:p>
        </p:txBody>
      </p:sp>
      <p:sp>
        <p:nvSpPr>
          <p:cNvPr id="198" name="Google Shape;198;p17"/>
          <p:cNvSpPr txBox="1"/>
          <p:nvPr/>
        </p:nvSpPr>
        <p:spPr>
          <a:xfrm>
            <a:off x="8532722" y="2547138"/>
            <a:ext cx="164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/>
          </a:p>
        </p:txBody>
      </p:sp>
      <p:sp>
        <p:nvSpPr>
          <p:cNvPr id="199" name="Google Shape;199;p17"/>
          <p:cNvSpPr/>
          <p:nvPr/>
        </p:nvSpPr>
        <p:spPr>
          <a:xfrm>
            <a:off x="8688169" y="1980210"/>
            <a:ext cx="150870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8797897" y="2117370"/>
            <a:ext cx="41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600"/>
          </a:p>
        </p:txBody>
      </p:sp>
      <p:sp>
        <p:nvSpPr>
          <p:cNvPr id="201" name="Google Shape;201;p17"/>
          <p:cNvSpPr txBox="1"/>
          <p:nvPr/>
        </p:nvSpPr>
        <p:spPr>
          <a:xfrm>
            <a:off x="8807047" y="2355125"/>
            <a:ext cx="1289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Demand</a:t>
            </a:r>
            <a:b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7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endParaRPr sz="1800"/>
          </a:p>
        </p:txBody>
      </p:sp>
      <p:sp>
        <p:nvSpPr>
          <p:cNvPr id="202" name="Google Shape;202;p17"/>
          <p:cNvSpPr txBox="1"/>
          <p:nvPr/>
        </p:nvSpPr>
        <p:spPr>
          <a:xfrm>
            <a:off x="10206074" y="2547138"/>
            <a:ext cx="164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600"/>
          </a:p>
        </p:txBody>
      </p:sp>
      <p:sp>
        <p:nvSpPr>
          <p:cNvPr id="203" name="Google Shape;203;p17"/>
          <p:cNvSpPr/>
          <p:nvPr/>
        </p:nvSpPr>
        <p:spPr>
          <a:xfrm>
            <a:off x="10361522" y="1980210"/>
            <a:ext cx="150870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10471249" y="2117370"/>
            <a:ext cx="41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600"/>
          </a:p>
        </p:txBody>
      </p:sp>
      <p:sp>
        <p:nvSpPr>
          <p:cNvPr id="205" name="Google Shape;205;p17"/>
          <p:cNvSpPr txBox="1"/>
          <p:nvPr/>
        </p:nvSpPr>
        <p:spPr>
          <a:xfrm>
            <a:off x="10480399" y="2385887"/>
            <a:ext cx="12894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Integration &amp;</a:t>
            </a:r>
            <a:br>
              <a:rPr b="1" lang="en-US" sz="16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600">
                <a:solidFill>
                  <a:srgbClr val="111F34"/>
                </a:solidFill>
              </a:rPr>
              <a:t>B</a:t>
            </a:r>
            <a:r>
              <a:rPr b="1" lang="en-US" sz="16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usiness insights</a:t>
            </a:r>
            <a:endParaRPr sz="1700"/>
          </a:p>
        </p:txBody>
      </p:sp>
      <p:sp>
        <p:nvSpPr>
          <p:cNvPr id="206" name="Google Shape;206;p17"/>
          <p:cNvSpPr txBox="1"/>
          <p:nvPr/>
        </p:nvSpPr>
        <p:spPr>
          <a:xfrm>
            <a:off x="594350" y="4395050"/>
            <a:ext cx="107625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Each analytical component produces outputs that contribute to the final integrated business view.</a:t>
            </a:r>
            <a:endParaRPr sz="1600"/>
          </a:p>
        </p:txBody>
      </p:sp>
      <p:sp>
        <p:nvSpPr>
          <p:cNvPr id="207" name="Google Shape;207;p17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/>
          <p:nvPr/>
        </p:nvSpPr>
        <p:spPr>
          <a:xfrm>
            <a:off x="594353" y="382602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Customer &amp; Restaurant Segmentation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05 / DAY 2</a:t>
            </a:r>
            <a:endParaRPr sz="1700"/>
          </a:p>
        </p:txBody>
      </p:sp>
      <p:sp>
        <p:nvSpPr>
          <p:cNvPr id="215" name="Google Shape;215;p18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31520" y="1143000"/>
            <a:ext cx="10698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Feature engineering and standardization were followed by K-Means and DBSCAN clustering. PCA was used to visualize high-dimensional cluster patterns.</a:t>
            </a:r>
            <a:endParaRPr sz="1700"/>
          </a:p>
        </p:txBody>
      </p:sp>
      <p:sp>
        <p:nvSpPr>
          <p:cNvPr id="218" name="Google Shape;218;p18"/>
          <p:cNvSpPr/>
          <p:nvPr/>
        </p:nvSpPr>
        <p:spPr>
          <a:xfrm>
            <a:off x="914400" y="2148840"/>
            <a:ext cx="23316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1042253" y="2176268"/>
            <a:ext cx="211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0.237</a:t>
            </a:r>
            <a:endParaRPr sz="1700"/>
          </a:p>
        </p:txBody>
      </p:sp>
      <p:sp>
        <p:nvSpPr>
          <p:cNvPr id="220" name="Google Shape;220;p18"/>
          <p:cNvSpPr txBox="1"/>
          <p:nvPr/>
        </p:nvSpPr>
        <p:spPr>
          <a:xfrm>
            <a:off x="1042253" y="2607382"/>
            <a:ext cx="211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Customer K-Means silhouette</a:t>
            </a:r>
            <a:endParaRPr sz="1700"/>
          </a:p>
        </p:txBody>
      </p:sp>
      <p:sp>
        <p:nvSpPr>
          <p:cNvPr id="221" name="Google Shape;221;p18"/>
          <p:cNvSpPr/>
          <p:nvPr/>
        </p:nvSpPr>
        <p:spPr>
          <a:xfrm>
            <a:off x="3611880" y="2148840"/>
            <a:ext cx="23316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3721533" y="2176281"/>
            <a:ext cx="211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0.235</a:t>
            </a:r>
            <a:endParaRPr sz="1700"/>
          </a:p>
        </p:txBody>
      </p:sp>
      <p:sp>
        <p:nvSpPr>
          <p:cNvPr id="223" name="Google Shape;223;p18"/>
          <p:cNvSpPr txBox="1"/>
          <p:nvPr/>
        </p:nvSpPr>
        <p:spPr>
          <a:xfrm>
            <a:off x="3767258" y="2607369"/>
            <a:ext cx="211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Restaurant K-Means silhouette</a:t>
            </a:r>
            <a:endParaRPr sz="1700"/>
          </a:p>
        </p:txBody>
      </p:sp>
      <p:sp>
        <p:nvSpPr>
          <p:cNvPr id="224" name="Google Shape;224;p18"/>
          <p:cNvSpPr/>
          <p:nvPr/>
        </p:nvSpPr>
        <p:spPr>
          <a:xfrm>
            <a:off x="6400800" y="2011680"/>
            <a:ext cx="466344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6400800" y="2011680"/>
            <a:ext cx="64008" cy="1508760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6583618" y="2036222"/>
            <a:ext cx="4297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700"/>
          </a:p>
        </p:txBody>
      </p:sp>
      <p:sp>
        <p:nvSpPr>
          <p:cNvPr id="227" name="Google Shape;227;p18"/>
          <p:cNvSpPr txBox="1"/>
          <p:nvPr/>
        </p:nvSpPr>
        <p:spPr>
          <a:xfrm>
            <a:off x="6592768" y="2452128"/>
            <a:ext cx="4279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Silhouette scores indicate modest cluster separation. Cluster profiles are more useful for describing relative customer and restaurant behaviour than claiming sharply distinct groups.</a:t>
            </a:r>
            <a:endParaRPr sz="1500"/>
          </a:p>
        </p:txBody>
      </p:sp>
      <p:sp>
        <p:nvSpPr>
          <p:cNvPr id="228" name="Google Shape;228;p18"/>
          <p:cNvSpPr/>
          <p:nvPr/>
        </p:nvSpPr>
        <p:spPr>
          <a:xfrm>
            <a:off x="822960" y="4069080"/>
            <a:ext cx="50749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822960" y="4069080"/>
            <a:ext cx="64008" cy="1417320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1005853" y="4210547"/>
            <a:ext cx="47091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Customer patterns</a:t>
            </a:r>
            <a:endParaRPr sz="1700"/>
          </a:p>
        </p:txBody>
      </p:sp>
      <p:sp>
        <p:nvSpPr>
          <p:cNvPr id="231" name="Google Shape;231;p18"/>
          <p:cNvSpPr txBox="1"/>
          <p:nvPr/>
        </p:nvSpPr>
        <p:spPr>
          <a:xfrm>
            <a:off x="1015015" y="4576840"/>
            <a:ext cx="4690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Higher-activity segment: more completed orders, higher total spending and more weekend / late-night orders.</a:t>
            </a:r>
            <a:endParaRPr sz="1600"/>
          </a:p>
        </p:txBody>
      </p:sp>
      <p:sp>
        <p:nvSpPr>
          <p:cNvPr id="232" name="Google Shape;232;p18"/>
          <p:cNvSpPr/>
          <p:nvPr/>
        </p:nvSpPr>
        <p:spPr>
          <a:xfrm>
            <a:off x="6263640" y="4069080"/>
            <a:ext cx="50749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6263640" y="4069080"/>
            <a:ext cx="64008" cy="1417320"/>
          </a:xfrm>
          <a:prstGeom prst="rect">
            <a:avLst/>
          </a:prstGeom>
          <a:solidFill>
            <a:srgbClr val="3D97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6446557" y="4210547"/>
            <a:ext cx="47091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Restaurant patterns</a:t>
            </a:r>
            <a:endParaRPr sz="1700"/>
          </a:p>
        </p:txBody>
      </p:sp>
      <p:sp>
        <p:nvSpPr>
          <p:cNvPr id="235" name="Google Shape;235;p18"/>
          <p:cNvSpPr txBox="1"/>
          <p:nvPr/>
        </p:nvSpPr>
        <p:spPr>
          <a:xfrm>
            <a:off x="6455707" y="4590840"/>
            <a:ext cx="4690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Higher-performing segment: more orders and revenue, slightly higher ratings and a lower cancellation rate.</a:t>
            </a:r>
            <a:endParaRPr sz="1600"/>
          </a:p>
        </p:txBody>
      </p:sp>
      <p:sp>
        <p:nvSpPr>
          <p:cNvPr id="236" name="Google Shape;236;p18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/>
        </p:nvSpPr>
        <p:spPr>
          <a:xfrm>
            <a:off x="594353" y="382602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Customer Feedback Analysis Using NLP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06 / DAY 3</a:t>
            </a:r>
            <a:endParaRPr sz="1700"/>
          </a:p>
        </p:txBody>
      </p:sp>
      <p:sp>
        <p:nvSpPr>
          <p:cNvPr id="244" name="Google Shape;244;p19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731520" y="1143000"/>
            <a:ext cx="10698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Review text was cleaned and transformed using TF-IDF before training a Naive Bayes sentiment classifier. VADER was used as a comparison baseline.</a:t>
            </a:r>
            <a:endParaRPr sz="1700"/>
          </a:p>
        </p:txBody>
      </p:sp>
      <p:sp>
        <p:nvSpPr>
          <p:cNvPr id="247" name="Google Shape;247;p19"/>
          <p:cNvSpPr/>
          <p:nvPr/>
        </p:nvSpPr>
        <p:spPr>
          <a:xfrm>
            <a:off x="914400" y="205740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1024128" y="2167128"/>
            <a:ext cx="21579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5,968</a:t>
            </a:r>
            <a:endParaRPr sz="1600"/>
          </a:p>
        </p:txBody>
      </p:sp>
      <p:sp>
        <p:nvSpPr>
          <p:cNvPr id="249" name="Google Shape;249;p19"/>
          <p:cNvSpPr txBox="1"/>
          <p:nvPr/>
        </p:nvSpPr>
        <p:spPr>
          <a:xfrm>
            <a:off x="1024128" y="2660904"/>
            <a:ext cx="21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customer reviews</a:t>
            </a:r>
            <a:endParaRPr sz="1600"/>
          </a:p>
        </p:txBody>
      </p:sp>
      <p:sp>
        <p:nvSpPr>
          <p:cNvPr id="250" name="Google Shape;250;p19"/>
          <p:cNvSpPr/>
          <p:nvPr/>
        </p:nvSpPr>
        <p:spPr>
          <a:xfrm>
            <a:off x="3657600" y="205740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3767328" y="2167128"/>
            <a:ext cx="21579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1600"/>
          </a:p>
        </p:txBody>
      </p:sp>
      <p:sp>
        <p:nvSpPr>
          <p:cNvPr id="252" name="Google Shape;252;p19"/>
          <p:cNvSpPr txBox="1"/>
          <p:nvPr/>
        </p:nvSpPr>
        <p:spPr>
          <a:xfrm>
            <a:off x="3767328" y="2660904"/>
            <a:ext cx="21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Naive Bayes test accuracy</a:t>
            </a:r>
            <a:endParaRPr sz="1600"/>
          </a:p>
        </p:txBody>
      </p:sp>
      <p:sp>
        <p:nvSpPr>
          <p:cNvPr id="253" name="Google Shape;253;p19"/>
          <p:cNvSpPr/>
          <p:nvPr/>
        </p:nvSpPr>
        <p:spPr>
          <a:xfrm>
            <a:off x="6400800" y="205740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6510528" y="2167128"/>
            <a:ext cx="21579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~74%</a:t>
            </a:r>
            <a:endParaRPr sz="1600"/>
          </a:p>
        </p:txBody>
      </p:sp>
      <p:sp>
        <p:nvSpPr>
          <p:cNvPr id="255" name="Google Shape;255;p19"/>
          <p:cNvSpPr txBox="1"/>
          <p:nvPr/>
        </p:nvSpPr>
        <p:spPr>
          <a:xfrm>
            <a:off x="6510528" y="2660904"/>
            <a:ext cx="215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VADER accuracy</a:t>
            </a:r>
            <a:endParaRPr sz="1600"/>
          </a:p>
        </p:txBody>
      </p:sp>
      <p:sp>
        <p:nvSpPr>
          <p:cNvPr id="256" name="Google Shape;256;p19"/>
          <p:cNvSpPr/>
          <p:nvPr/>
        </p:nvSpPr>
        <p:spPr>
          <a:xfrm>
            <a:off x="9144000" y="2057400"/>
            <a:ext cx="21031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9253728" y="2167128"/>
            <a:ext cx="1883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/>
          </a:p>
        </p:txBody>
      </p:sp>
      <p:sp>
        <p:nvSpPr>
          <p:cNvPr id="258" name="Google Shape;258;p19"/>
          <p:cNvSpPr txBox="1"/>
          <p:nvPr/>
        </p:nvSpPr>
        <p:spPr>
          <a:xfrm>
            <a:off x="9253728" y="2660904"/>
            <a:ext cx="188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sentiment classes</a:t>
            </a:r>
            <a:endParaRPr sz="1600"/>
          </a:p>
        </p:txBody>
      </p:sp>
      <p:sp>
        <p:nvSpPr>
          <p:cNvPr id="259" name="Google Shape;259;p19"/>
          <p:cNvSpPr/>
          <p:nvPr/>
        </p:nvSpPr>
        <p:spPr>
          <a:xfrm>
            <a:off x="822960" y="3794760"/>
            <a:ext cx="507492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822960" y="3794760"/>
            <a:ext cx="64008" cy="1645920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1024128" y="3959352"/>
            <a:ext cx="47091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Most common negative themes</a:t>
            </a:r>
            <a:endParaRPr sz="1700"/>
          </a:p>
        </p:txBody>
      </p:sp>
      <p:sp>
        <p:nvSpPr>
          <p:cNvPr id="262" name="Google Shape;262;p19"/>
          <p:cNvSpPr txBox="1"/>
          <p:nvPr/>
        </p:nvSpPr>
        <p:spPr>
          <a:xfrm>
            <a:off x="1024128" y="4389120"/>
            <a:ext cx="4690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Food temperature / freshness, late delivery, incorrect or missing orders, and service / packaging issues.</a:t>
            </a:r>
            <a:endParaRPr sz="1600"/>
          </a:p>
        </p:txBody>
      </p:sp>
      <p:sp>
        <p:nvSpPr>
          <p:cNvPr id="263" name="Google Shape;263;p19"/>
          <p:cNvSpPr/>
          <p:nvPr/>
        </p:nvSpPr>
        <p:spPr>
          <a:xfrm>
            <a:off x="6263640" y="3794760"/>
            <a:ext cx="507492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6263640" y="3794760"/>
            <a:ext cx="64008" cy="1645920"/>
          </a:xfrm>
          <a:prstGeom prst="rect">
            <a:avLst/>
          </a:prstGeom>
          <a:solidFill>
            <a:srgbClr val="CC56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6464807" y="3959352"/>
            <a:ext cx="47091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Important </a:t>
            </a:r>
            <a:r>
              <a:rPr b="1" lang="en-US" sz="1900">
                <a:solidFill>
                  <a:srgbClr val="111F34"/>
                </a:solidFill>
              </a:rPr>
              <a:t>note</a:t>
            </a:r>
            <a:endParaRPr sz="1700"/>
          </a:p>
        </p:txBody>
      </p:sp>
      <p:sp>
        <p:nvSpPr>
          <p:cNvPr id="266" name="Google Shape;266;p19"/>
          <p:cNvSpPr txBox="1"/>
          <p:nvPr/>
        </p:nvSpPr>
        <p:spPr>
          <a:xfrm>
            <a:off x="6464807" y="4389120"/>
            <a:ext cx="4690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The data is synthetic and contains repeated review patterns. The perfect test score should not be assumed to represent real-world performance.</a:t>
            </a:r>
            <a:endParaRPr sz="1600"/>
          </a:p>
        </p:txBody>
      </p:sp>
      <p:sp>
        <p:nvSpPr>
          <p:cNvPr id="267" name="Google Shape;267;p19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/>
        </p:nvSpPr>
        <p:spPr>
          <a:xfrm>
            <a:off x="541003" y="382602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Delivery-Time Prediction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07 / DAY 4</a:t>
            </a:r>
            <a:endParaRPr sz="1700"/>
          </a:p>
        </p:txBody>
      </p:sp>
      <p:sp>
        <p:nvSpPr>
          <p:cNvPr id="275" name="Google Shape;275;p20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731520" y="1143000"/>
            <a:ext cx="106071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Regression models were trained to estimate delivery duration using delivery-related features. Model performance was compared on held-out test data.</a:t>
            </a:r>
            <a:endParaRPr sz="1700"/>
          </a:p>
        </p:txBody>
      </p:sp>
      <p:graphicFrame>
        <p:nvGraphicFramePr>
          <p:cNvPr id="278" name="Google Shape;278;p20"/>
          <p:cNvGraphicFramePr/>
          <p:nvPr/>
        </p:nvGraphicFramePr>
        <p:xfrm>
          <a:off x="82296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{38BA314B-CF25-43E4-ACC4-AB74171B23F0}</a:tableStyleId>
              </a:tblPr>
              <a:tblGrid>
                <a:gridCol w="2194550"/>
                <a:gridCol w="1554475"/>
                <a:gridCol w="1554475"/>
                <a:gridCol w="1280150"/>
              </a:tblGrid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MAE (min)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RMSE (min)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R²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Ridge Regression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5.437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6.739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0.794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Lasso Regression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5.439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6.741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0.794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</a:tr>
              <a:tr h="5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5.555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6.905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0.784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20"/>
          <p:cNvSpPr/>
          <p:nvPr/>
        </p:nvSpPr>
        <p:spPr>
          <a:xfrm>
            <a:off x="7818120" y="1965960"/>
            <a:ext cx="342900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7818120" y="1965960"/>
            <a:ext cx="64008" cy="2148840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8019288" y="2130552"/>
            <a:ext cx="30633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Selected model: Ridge</a:t>
            </a:r>
            <a:endParaRPr sz="1700"/>
          </a:p>
        </p:txBody>
      </p:sp>
      <p:sp>
        <p:nvSpPr>
          <p:cNvPr id="282" name="Google Shape;282;p20"/>
          <p:cNvSpPr txBox="1"/>
          <p:nvPr/>
        </p:nvSpPr>
        <p:spPr>
          <a:xfrm>
            <a:off x="8019288" y="2560320"/>
            <a:ext cx="30450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Ridge achieved the lowest test MAE and RMSE among the compared models, with R² of 0.794.</a:t>
            </a:r>
            <a:endParaRPr sz="1700"/>
          </a:p>
        </p:txBody>
      </p:sp>
      <p:sp>
        <p:nvSpPr>
          <p:cNvPr id="283" name="Google Shape;283;p20"/>
          <p:cNvSpPr/>
          <p:nvPr/>
        </p:nvSpPr>
        <p:spPr>
          <a:xfrm>
            <a:off x="1097280" y="4572000"/>
            <a:ext cx="274320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1207007" y="4572003"/>
            <a:ext cx="2523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0.868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1207007" y="5064592"/>
            <a:ext cx="25236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Distance–delivery time correlation</a:t>
            </a:r>
            <a:endParaRPr sz="1600"/>
          </a:p>
        </p:txBody>
      </p:sp>
      <p:sp>
        <p:nvSpPr>
          <p:cNvPr id="286" name="Google Shape;286;p20"/>
          <p:cNvSpPr/>
          <p:nvPr/>
        </p:nvSpPr>
        <p:spPr>
          <a:xfrm>
            <a:off x="4251960" y="4572000"/>
            <a:ext cx="274320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4315963" y="4572003"/>
            <a:ext cx="2523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0.8106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4316025" y="5064592"/>
            <a:ext cx="25236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RF distance feature importance</a:t>
            </a:r>
            <a:endParaRPr sz="1600"/>
          </a:p>
        </p:txBody>
      </p:sp>
      <p:sp>
        <p:nvSpPr>
          <p:cNvPr id="289" name="Google Shape;289;p20"/>
          <p:cNvSpPr txBox="1"/>
          <p:nvPr/>
        </p:nvSpPr>
        <p:spPr>
          <a:xfrm>
            <a:off x="7818125" y="4547883"/>
            <a:ext cx="36576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Delivery distance was a strong predictor. Traffic and weather are potential additions for future model improvement.</a:t>
            </a:r>
            <a:endParaRPr sz="1700"/>
          </a:p>
        </p:txBody>
      </p:sp>
      <p:sp>
        <p:nvSpPr>
          <p:cNvPr id="290" name="Google Shape;290;p20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/>
          <p:nvPr/>
        </p:nvSpPr>
        <p:spPr>
          <a:xfrm>
            <a:off x="548678" y="368315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Hourly Order Demand Forecasting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08 / DAY 5</a:t>
            </a:r>
            <a:endParaRPr sz="1700"/>
          </a:p>
        </p:txBody>
      </p:sp>
      <p:sp>
        <p:nvSpPr>
          <p:cNvPr id="298" name="Google Shape;298;p21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822960" y="132588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932688" y="1435607"/>
            <a:ext cx="2157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1.14</a:t>
            </a:r>
            <a:endParaRPr sz="1700"/>
          </a:p>
        </p:txBody>
      </p:sp>
      <p:sp>
        <p:nvSpPr>
          <p:cNvPr id="302" name="Google Shape;302;p21"/>
          <p:cNvSpPr txBox="1"/>
          <p:nvPr/>
        </p:nvSpPr>
        <p:spPr>
          <a:xfrm>
            <a:off x="932688" y="1929384"/>
            <a:ext cx="21579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average orders per hour</a:t>
            </a:r>
            <a:endParaRPr sz="1700"/>
          </a:p>
        </p:txBody>
      </p:sp>
      <p:sp>
        <p:nvSpPr>
          <p:cNvPr id="303" name="Google Shape;303;p21"/>
          <p:cNvSpPr/>
          <p:nvPr/>
        </p:nvSpPr>
        <p:spPr>
          <a:xfrm>
            <a:off x="3520440" y="132588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3630168" y="1435607"/>
            <a:ext cx="2157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31.44%</a:t>
            </a:r>
            <a:endParaRPr sz="1700"/>
          </a:p>
        </p:txBody>
      </p:sp>
      <p:sp>
        <p:nvSpPr>
          <p:cNvPr id="305" name="Google Shape;305;p21"/>
          <p:cNvSpPr txBox="1"/>
          <p:nvPr/>
        </p:nvSpPr>
        <p:spPr>
          <a:xfrm>
            <a:off x="3630168" y="1929384"/>
            <a:ext cx="21579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hours with zero orders</a:t>
            </a:r>
            <a:endParaRPr sz="1700"/>
          </a:p>
        </p:txBody>
      </p:sp>
      <p:sp>
        <p:nvSpPr>
          <p:cNvPr id="306" name="Google Shape;306;p21"/>
          <p:cNvSpPr/>
          <p:nvPr/>
        </p:nvSpPr>
        <p:spPr>
          <a:xfrm>
            <a:off x="6217920" y="132588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6327648" y="1435607"/>
            <a:ext cx="2157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8,760</a:t>
            </a:r>
            <a:endParaRPr sz="1700"/>
          </a:p>
        </p:txBody>
      </p:sp>
      <p:sp>
        <p:nvSpPr>
          <p:cNvPr id="308" name="Google Shape;308;p21"/>
          <p:cNvSpPr txBox="1"/>
          <p:nvPr/>
        </p:nvSpPr>
        <p:spPr>
          <a:xfrm>
            <a:off x="6327648" y="1929384"/>
            <a:ext cx="21579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hourly observations</a:t>
            </a:r>
            <a:endParaRPr sz="1700"/>
          </a:p>
        </p:txBody>
      </p:sp>
      <p:sp>
        <p:nvSpPr>
          <p:cNvPr id="309" name="Google Shape;309;p21"/>
          <p:cNvSpPr/>
          <p:nvPr/>
        </p:nvSpPr>
        <p:spPr>
          <a:xfrm>
            <a:off x="8915400" y="132588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9025128" y="1435607"/>
            <a:ext cx="2157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24 hours</a:t>
            </a:r>
            <a:endParaRPr sz="1700"/>
          </a:p>
        </p:txBody>
      </p:sp>
      <p:sp>
        <p:nvSpPr>
          <p:cNvPr id="311" name="Google Shape;311;p21"/>
          <p:cNvSpPr txBox="1"/>
          <p:nvPr/>
        </p:nvSpPr>
        <p:spPr>
          <a:xfrm>
            <a:off x="9025128" y="1929384"/>
            <a:ext cx="21579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forecast horizon</a:t>
            </a:r>
            <a:endParaRPr sz="1700"/>
          </a:p>
        </p:txBody>
      </p:sp>
      <p:graphicFrame>
        <p:nvGraphicFramePr>
          <p:cNvPr id="312" name="Google Shape;312;p21"/>
          <p:cNvGraphicFramePr/>
          <p:nvPr/>
        </p:nvGraphicFramePr>
        <p:xfrm>
          <a:off x="9144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{38BA314B-CF25-43E4-ACC4-AB74171B23F0}</a:tableStyleId>
              </a:tblPr>
              <a:tblGrid>
                <a:gridCol w="2103125"/>
                <a:gridCol w="1188725"/>
                <a:gridCol w="1188725"/>
                <a:gridCol w="14630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RMSE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MAPE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ARIMA(1,1,1)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0.798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1.016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30.132%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Prophet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0.800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1.018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30.320%</a:t>
                      </a:r>
                      <a:endParaRPr sz="18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313" name="Google Shape;313;p21"/>
          <p:cNvSpPr/>
          <p:nvPr/>
        </p:nvSpPr>
        <p:spPr>
          <a:xfrm>
            <a:off x="7315200" y="2743200"/>
            <a:ext cx="3749039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7315200" y="2743200"/>
            <a:ext cx="64008" cy="1828800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7507218" y="2799192"/>
            <a:ext cx="33834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Forecast result</a:t>
            </a:r>
            <a:endParaRPr sz="1700"/>
          </a:p>
        </p:txBody>
      </p:sp>
      <p:sp>
        <p:nvSpPr>
          <p:cNvPr id="316" name="Google Shape;316;p21"/>
          <p:cNvSpPr txBox="1"/>
          <p:nvPr/>
        </p:nvSpPr>
        <p:spPr>
          <a:xfrm>
            <a:off x="7516368" y="3244135"/>
            <a:ext cx="33651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ARIMA performed marginally better than Prophet on the 80:20 chronological test split. The next-24-hour forecast was approximately 1.14 orders per hour.</a:t>
            </a:r>
            <a:endParaRPr sz="1500"/>
          </a:p>
        </p:txBody>
      </p:sp>
      <p:sp>
        <p:nvSpPr>
          <p:cNvPr id="317" name="Google Shape;317;p21"/>
          <p:cNvSpPr txBox="1"/>
          <p:nvPr/>
        </p:nvSpPr>
        <p:spPr>
          <a:xfrm>
            <a:off x="914400" y="4983480"/>
            <a:ext cx="10149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The hourly series showed weak recurring demand patterns, so the forecast was relatively flat. ADF testing indicated the original series was stationary.</a:t>
            </a:r>
            <a:endParaRPr sz="1700"/>
          </a:p>
        </p:txBody>
      </p:sp>
      <p:sp>
        <p:nvSpPr>
          <p:cNvPr id="318" name="Google Shape;318;p21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"/>
          <p:cNvSpPr txBox="1"/>
          <p:nvPr/>
        </p:nvSpPr>
        <p:spPr>
          <a:xfrm>
            <a:off x="594390" y="378590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End-to-End ML Integration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09 / DAY 6</a:t>
            </a:r>
            <a:endParaRPr sz="1700"/>
          </a:p>
        </p:txBody>
      </p:sp>
      <p:sp>
        <p:nvSpPr>
          <p:cNvPr id="326" name="Google Shape;326;p22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731520" y="1143000"/>
            <a:ext cx="106071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The Day 6 notebook consolidates the outputs from the earlier analytical components without retraining the individual models.</a:t>
            </a:r>
            <a:endParaRPr sz="1600"/>
          </a:p>
        </p:txBody>
      </p:sp>
      <p:graphicFrame>
        <p:nvGraphicFramePr>
          <p:cNvPr id="329" name="Google Shape;329;p22"/>
          <p:cNvGraphicFramePr/>
          <p:nvPr/>
        </p:nvGraphicFramePr>
        <p:xfrm>
          <a:off x="82296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{38BA314B-CF25-43E4-ACC4-AB74171B23F0}</a:tableStyleId>
              </a:tblPr>
              <a:tblGrid>
                <a:gridCol w="2103125"/>
                <a:gridCol w="438912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Integrated output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111F34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Segmentation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and restaurant cluster profiles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Sentiment analysis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Sentiment metrics and complaint themes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Delivery prediction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Ridge model evaluation metrics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Demand forecasting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2330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ARIMA evaluation and 24-hour forecast</a:t>
                      </a:r>
                      <a:endParaRPr sz="1700"/>
                    </a:p>
                  </a:txBody>
                  <a:tcPr marT="36575" marB="27425" marR="54875" marL="73150" anchor="ctr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330" name="Google Shape;330;p22"/>
          <p:cNvSpPr/>
          <p:nvPr/>
        </p:nvSpPr>
        <p:spPr>
          <a:xfrm>
            <a:off x="7726679" y="1965960"/>
            <a:ext cx="34747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7726679" y="1965960"/>
            <a:ext cx="64008" cy="2743200"/>
          </a:xfrm>
          <a:prstGeom prst="rect">
            <a:avLst/>
          </a:prstGeom>
          <a:solidFill>
            <a:srgbClr val="3D97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7927848" y="2130552"/>
            <a:ext cx="3108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Integration outcome</a:t>
            </a:r>
            <a:endParaRPr sz="1700"/>
          </a:p>
        </p:txBody>
      </p:sp>
      <p:sp>
        <p:nvSpPr>
          <p:cNvPr id="333" name="Google Shape;333;p22"/>
          <p:cNvSpPr txBox="1"/>
          <p:nvPr/>
        </p:nvSpPr>
        <p:spPr>
          <a:xfrm>
            <a:off x="7927848" y="2560320"/>
            <a:ext cx="30906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A consolidated view of model performance, business findings, recommendations, limitations and future improvements.</a:t>
            </a:r>
            <a:endParaRPr sz="1700"/>
          </a:p>
        </p:txBody>
      </p:sp>
      <p:sp>
        <p:nvSpPr>
          <p:cNvPr id="334" name="Google Shape;334;p22"/>
          <p:cNvSpPr txBox="1"/>
          <p:nvPr/>
        </p:nvSpPr>
        <p:spPr>
          <a:xfrm>
            <a:off x="914400" y="5257800"/>
            <a:ext cx="9875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Outputs include integrated model comparison and business-insight CSV reports.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/>
          <p:nvPr/>
        </p:nvSpPr>
        <p:spPr>
          <a:xfrm>
            <a:off x="594390" y="323740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Key Business Insights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10 / BUSINESS IMPACT</a:t>
            </a:r>
            <a:endParaRPr sz="1700"/>
          </a:p>
        </p:txBody>
      </p:sp>
      <p:sp>
        <p:nvSpPr>
          <p:cNvPr id="343" name="Google Shape;343;p23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868680" y="123444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868680" y="1234440"/>
            <a:ext cx="64008" cy="749808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1069848" y="1245870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Customer behaviour</a:t>
            </a:r>
            <a:endParaRPr sz="1700"/>
          </a:p>
        </p:txBody>
      </p:sp>
      <p:sp>
        <p:nvSpPr>
          <p:cNvPr id="348" name="Google Shape;348;p23"/>
          <p:cNvSpPr txBox="1"/>
          <p:nvPr/>
        </p:nvSpPr>
        <p:spPr>
          <a:xfrm>
            <a:off x="1069848" y="1652775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Higher-activity customers placed more orders and generated greater total spending.</a:t>
            </a:r>
            <a:endParaRPr sz="1700"/>
          </a:p>
        </p:txBody>
      </p:sp>
      <p:sp>
        <p:nvSpPr>
          <p:cNvPr id="349" name="Google Shape;349;p23"/>
          <p:cNvSpPr/>
          <p:nvPr/>
        </p:nvSpPr>
        <p:spPr>
          <a:xfrm>
            <a:off x="868680" y="219456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868680" y="2194560"/>
            <a:ext cx="64008" cy="749808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1069848" y="2226565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Restaurant performance</a:t>
            </a:r>
            <a:endParaRPr sz="1700"/>
          </a:p>
        </p:txBody>
      </p:sp>
      <p:sp>
        <p:nvSpPr>
          <p:cNvPr id="352" name="Google Shape;352;p23"/>
          <p:cNvSpPr txBox="1"/>
          <p:nvPr/>
        </p:nvSpPr>
        <p:spPr>
          <a:xfrm>
            <a:off x="1069848" y="2633470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The stronger-performing segment generated more orders and revenue with a lower cancellation rate.</a:t>
            </a:r>
            <a:endParaRPr sz="1700"/>
          </a:p>
        </p:txBody>
      </p:sp>
      <p:sp>
        <p:nvSpPr>
          <p:cNvPr id="353" name="Google Shape;353;p23"/>
          <p:cNvSpPr/>
          <p:nvPr/>
        </p:nvSpPr>
        <p:spPr>
          <a:xfrm>
            <a:off x="868680" y="315468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868680" y="3154680"/>
            <a:ext cx="64008" cy="749808"/>
          </a:xfrm>
          <a:prstGeom prst="rect">
            <a:avLst/>
          </a:prstGeom>
          <a:solidFill>
            <a:srgbClr val="3D97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1069848" y="3186697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Customer experience</a:t>
            </a:r>
            <a:endParaRPr sz="1700"/>
          </a:p>
        </p:txBody>
      </p:sp>
      <p:sp>
        <p:nvSpPr>
          <p:cNvPr id="356" name="Google Shape;356;p23"/>
          <p:cNvSpPr txBox="1"/>
          <p:nvPr/>
        </p:nvSpPr>
        <p:spPr>
          <a:xfrm>
            <a:off x="1069848" y="3593590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Negative reviews frequently mentioned food temperature, late delivery and order accuracy.</a:t>
            </a:r>
            <a:endParaRPr sz="1700"/>
          </a:p>
        </p:txBody>
      </p:sp>
      <p:sp>
        <p:nvSpPr>
          <p:cNvPr id="357" name="Google Shape;357;p23"/>
          <p:cNvSpPr/>
          <p:nvPr/>
        </p:nvSpPr>
        <p:spPr>
          <a:xfrm>
            <a:off x="868680" y="4114800"/>
            <a:ext cx="10332600" cy="74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868680" y="4114800"/>
            <a:ext cx="64008" cy="749808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1051573" y="4146805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Delivery operations</a:t>
            </a:r>
            <a:endParaRPr sz="1700"/>
          </a:p>
        </p:txBody>
      </p:sp>
      <p:sp>
        <p:nvSpPr>
          <p:cNvPr id="360" name="Google Shape;360;p23"/>
          <p:cNvSpPr txBox="1"/>
          <p:nvPr/>
        </p:nvSpPr>
        <p:spPr>
          <a:xfrm>
            <a:off x="1060635" y="4553723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Delivery distance was strongly associated with delivery time.</a:t>
            </a:r>
            <a:endParaRPr sz="1700"/>
          </a:p>
        </p:txBody>
      </p:sp>
      <p:sp>
        <p:nvSpPr>
          <p:cNvPr id="361" name="Google Shape;361;p23"/>
          <p:cNvSpPr/>
          <p:nvPr/>
        </p:nvSpPr>
        <p:spPr>
          <a:xfrm>
            <a:off x="868680" y="507492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868680" y="5074920"/>
            <a:ext cx="64008" cy="749808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1069823" y="5088437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Demand planning</a:t>
            </a:r>
            <a:endParaRPr sz="1700"/>
          </a:p>
        </p:txBody>
      </p:sp>
      <p:sp>
        <p:nvSpPr>
          <p:cNvPr id="364" name="Google Shape;364;p23"/>
          <p:cNvSpPr txBox="1"/>
          <p:nvPr/>
        </p:nvSpPr>
        <p:spPr>
          <a:xfrm>
            <a:off x="1060623" y="5472505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Hourly demand was relatively low and irregular, with a mostly flat short-term forecast.</a:t>
            </a:r>
            <a:endParaRPr sz="1700"/>
          </a:p>
        </p:txBody>
      </p:sp>
      <p:sp>
        <p:nvSpPr>
          <p:cNvPr id="365" name="Google Shape;365;p23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4"/>
          <p:cNvSpPr txBox="1"/>
          <p:nvPr/>
        </p:nvSpPr>
        <p:spPr>
          <a:xfrm>
            <a:off x="566978" y="368315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Data-Driven Recommendations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11 / ACTION</a:t>
            </a:r>
            <a:endParaRPr sz="1700"/>
          </a:p>
        </p:txBody>
      </p:sp>
      <p:sp>
        <p:nvSpPr>
          <p:cNvPr id="373" name="Google Shape;373;p24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868680" y="123444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868680" y="1234440"/>
            <a:ext cx="64008" cy="749808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 txBox="1"/>
          <p:nvPr/>
        </p:nvSpPr>
        <p:spPr>
          <a:xfrm>
            <a:off x="1069848" y="1245870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Customer engagement</a:t>
            </a:r>
            <a:endParaRPr sz="1700"/>
          </a:p>
        </p:txBody>
      </p:sp>
      <p:sp>
        <p:nvSpPr>
          <p:cNvPr id="378" name="Google Shape;378;p24"/>
          <p:cNvSpPr txBox="1"/>
          <p:nvPr/>
        </p:nvSpPr>
        <p:spPr>
          <a:xfrm>
            <a:off x="1078985" y="1652775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Use customer segments to design differentiated retention and engagement campaigns.</a:t>
            </a:r>
            <a:endParaRPr sz="1700"/>
          </a:p>
        </p:txBody>
      </p:sp>
      <p:sp>
        <p:nvSpPr>
          <p:cNvPr id="379" name="Google Shape;379;p24"/>
          <p:cNvSpPr/>
          <p:nvPr/>
        </p:nvSpPr>
        <p:spPr>
          <a:xfrm>
            <a:off x="868680" y="219456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868680" y="2194560"/>
            <a:ext cx="64008" cy="749808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 txBox="1"/>
          <p:nvPr/>
        </p:nvSpPr>
        <p:spPr>
          <a:xfrm>
            <a:off x="1069848" y="2226565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Restaurant operations</a:t>
            </a:r>
            <a:endParaRPr sz="1700"/>
          </a:p>
        </p:txBody>
      </p:sp>
      <p:sp>
        <p:nvSpPr>
          <p:cNvPr id="382" name="Google Shape;382;p24"/>
          <p:cNvSpPr txBox="1"/>
          <p:nvPr/>
        </p:nvSpPr>
        <p:spPr>
          <a:xfrm>
            <a:off x="1078985" y="2633470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Work with lower-performing restaurants on order handling, preparation consistency and cancellations.</a:t>
            </a:r>
            <a:endParaRPr sz="1700"/>
          </a:p>
        </p:txBody>
      </p:sp>
      <p:sp>
        <p:nvSpPr>
          <p:cNvPr id="383" name="Google Shape;383;p24"/>
          <p:cNvSpPr/>
          <p:nvPr/>
        </p:nvSpPr>
        <p:spPr>
          <a:xfrm>
            <a:off x="868680" y="315468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868680" y="3154680"/>
            <a:ext cx="64008" cy="749808"/>
          </a:xfrm>
          <a:prstGeom prst="rect">
            <a:avLst/>
          </a:prstGeom>
          <a:solidFill>
            <a:srgbClr val="3D97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1069848" y="3186697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Review management</a:t>
            </a:r>
            <a:endParaRPr sz="1700"/>
          </a:p>
        </p:txBody>
      </p:sp>
      <p:sp>
        <p:nvSpPr>
          <p:cNvPr id="386" name="Google Shape;386;p24"/>
          <p:cNvSpPr txBox="1"/>
          <p:nvPr/>
        </p:nvSpPr>
        <p:spPr>
          <a:xfrm>
            <a:off x="1069848" y="3593590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Prioritize food freshness, delivery timeliness and order accuracy in customer-experience improvements.</a:t>
            </a:r>
            <a:endParaRPr sz="1700"/>
          </a:p>
        </p:txBody>
      </p:sp>
      <p:sp>
        <p:nvSpPr>
          <p:cNvPr id="387" name="Google Shape;387;p24"/>
          <p:cNvSpPr/>
          <p:nvPr/>
        </p:nvSpPr>
        <p:spPr>
          <a:xfrm>
            <a:off x="868680" y="411480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868680" y="4114800"/>
            <a:ext cx="64008" cy="749808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 txBox="1"/>
          <p:nvPr/>
        </p:nvSpPr>
        <p:spPr>
          <a:xfrm>
            <a:off x="1051560" y="4146805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Delivery planning</a:t>
            </a:r>
            <a:endParaRPr sz="1700"/>
          </a:p>
        </p:txBody>
      </p:sp>
      <p:sp>
        <p:nvSpPr>
          <p:cNvPr id="390" name="Google Shape;390;p24"/>
          <p:cNvSpPr txBox="1"/>
          <p:nvPr/>
        </p:nvSpPr>
        <p:spPr>
          <a:xfrm>
            <a:off x="1069848" y="4553723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Use delivery-time estimates as</a:t>
            </a:r>
            <a:r>
              <a:rPr lang="en-US" sz="1600">
                <a:solidFill>
                  <a:srgbClr val="23303E"/>
                </a:solidFill>
              </a:rPr>
              <a:t> </a:t>
            </a: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input to plan</a:t>
            </a:r>
            <a:r>
              <a:rPr lang="en-US" sz="1600">
                <a:solidFill>
                  <a:srgbClr val="23303E"/>
                </a:solidFill>
              </a:rPr>
              <a:t>,</a:t>
            </a: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 while incorporating traffic and weather data in future versions.</a:t>
            </a:r>
            <a:endParaRPr sz="1700"/>
          </a:p>
        </p:txBody>
      </p:sp>
      <p:sp>
        <p:nvSpPr>
          <p:cNvPr id="391" name="Google Shape;391;p24"/>
          <p:cNvSpPr/>
          <p:nvPr/>
        </p:nvSpPr>
        <p:spPr>
          <a:xfrm>
            <a:off x="868680" y="5074920"/>
            <a:ext cx="1033272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868680" y="5074920"/>
            <a:ext cx="64008" cy="749808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1069823" y="5106925"/>
            <a:ext cx="9966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Demand planning</a:t>
            </a:r>
            <a:endParaRPr sz="1700"/>
          </a:p>
        </p:txBody>
      </p:sp>
      <p:sp>
        <p:nvSpPr>
          <p:cNvPr id="394" name="Google Shape;394;p24"/>
          <p:cNvSpPr txBox="1"/>
          <p:nvPr/>
        </p:nvSpPr>
        <p:spPr>
          <a:xfrm>
            <a:off x="1033323" y="5513843"/>
            <a:ext cx="994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Use forecasts as a baseline and improve them with longer, real operational histories.</a:t>
            </a:r>
            <a:endParaRPr sz="1700"/>
          </a:p>
        </p:txBody>
      </p:sp>
      <p:sp>
        <p:nvSpPr>
          <p:cNvPr id="395" name="Google Shape;395;p24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1F6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"/>
          <p:cNvSpPr txBox="1"/>
          <p:nvPr/>
        </p:nvSpPr>
        <p:spPr>
          <a:xfrm>
            <a:off x="594353" y="368315"/>
            <a:ext cx="10881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34"/>
                </a:solidFill>
                <a:latin typeface="Lexend"/>
                <a:ea typeface="Lexend"/>
                <a:cs typeface="Lexend"/>
                <a:sym typeface="Lexend"/>
              </a:rPr>
              <a:t>Limitations &amp; Future Scope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5"/>
          <p:cNvSpPr txBox="1"/>
          <p:nvPr/>
        </p:nvSpPr>
        <p:spPr>
          <a:xfrm>
            <a:off x="594360" y="109728"/>
            <a:ext cx="77724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AAA0"/>
                </a:solidFill>
                <a:latin typeface="Arial"/>
                <a:ea typeface="Arial"/>
                <a:cs typeface="Arial"/>
                <a:sym typeface="Arial"/>
              </a:rPr>
              <a:t>12 / REFLECTION</a:t>
            </a:r>
            <a:endParaRPr sz="1700"/>
          </a:p>
        </p:txBody>
      </p:sp>
      <p:sp>
        <p:nvSpPr>
          <p:cNvPr id="403" name="Google Shape;403;p25"/>
          <p:cNvSpPr/>
          <p:nvPr/>
        </p:nvSpPr>
        <p:spPr>
          <a:xfrm>
            <a:off x="594360" y="932688"/>
            <a:ext cx="685800" cy="50292"/>
          </a:xfrm>
          <a:prstGeom prst="rect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822960" y="1325880"/>
            <a:ext cx="5029200" cy="4023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822960" y="1325880"/>
            <a:ext cx="64008" cy="4023360"/>
          </a:xfrm>
          <a:prstGeom prst="rect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 txBox="1"/>
          <p:nvPr/>
        </p:nvSpPr>
        <p:spPr>
          <a:xfrm>
            <a:off x="1024128" y="1490472"/>
            <a:ext cx="46635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 sz="1800"/>
          </a:p>
        </p:txBody>
      </p:sp>
      <p:sp>
        <p:nvSpPr>
          <p:cNvPr id="408" name="Google Shape;408;p25"/>
          <p:cNvSpPr txBox="1"/>
          <p:nvPr/>
        </p:nvSpPr>
        <p:spPr>
          <a:xfrm>
            <a:off x="1024128" y="1920240"/>
            <a:ext cx="46452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Synthetic datasets may not represent real operational complexity.</a:t>
            </a: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Sentiment model performance may be influenced by repeated review templates.</a:t>
            </a: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Modest silhouette scores indicate limited cluster separation.</a:t>
            </a: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Hourly demand patterns were weak, limiting forecast variation.</a:t>
            </a: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Delivery model does not use all potentially relevant operational factors.</a:t>
            </a:r>
            <a:endParaRPr sz="1500"/>
          </a:p>
        </p:txBody>
      </p:sp>
      <p:sp>
        <p:nvSpPr>
          <p:cNvPr id="409" name="Google Shape;409;p25"/>
          <p:cNvSpPr/>
          <p:nvPr/>
        </p:nvSpPr>
        <p:spPr>
          <a:xfrm>
            <a:off x="6263640" y="1325880"/>
            <a:ext cx="5029200" cy="4023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A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6263640" y="1325880"/>
            <a:ext cx="64008" cy="4023360"/>
          </a:xfrm>
          <a:prstGeom prst="rect">
            <a:avLst/>
          </a:prstGeom>
          <a:solidFill>
            <a:srgbClr val="3D97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 txBox="1"/>
          <p:nvPr/>
        </p:nvSpPr>
        <p:spPr>
          <a:xfrm>
            <a:off x="6464807" y="1490472"/>
            <a:ext cx="46635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1F34"/>
                </a:solidFill>
                <a:latin typeface="Arial"/>
                <a:ea typeface="Arial"/>
                <a:cs typeface="Arial"/>
                <a:sym typeface="Arial"/>
              </a:rPr>
              <a:t>Future improvements</a:t>
            </a:r>
            <a:endParaRPr sz="1800"/>
          </a:p>
        </p:txBody>
      </p:sp>
      <p:sp>
        <p:nvSpPr>
          <p:cNvPr id="412" name="Google Shape;412;p25"/>
          <p:cNvSpPr txBox="1"/>
          <p:nvPr/>
        </p:nvSpPr>
        <p:spPr>
          <a:xfrm>
            <a:off x="6464807" y="1920240"/>
            <a:ext cx="4645200" cy="26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Validate models using real-world platform data.</a:t>
            </a: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Expand and diversify customer review text.</a:t>
            </a: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Add traffic, weather and rider availability features.</a:t>
            </a: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Include longer historical demand data and external events.</a:t>
            </a: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500">
                <a:solidFill>
                  <a:srgbClr val="23303E"/>
                </a:solidFill>
                <a:latin typeface="Arial"/>
                <a:ea typeface="Arial"/>
                <a:cs typeface="Arial"/>
                <a:sym typeface="Arial"/>
              </a:rPr>
              <a:t>• Monitor model performance and retrain as new data arrives.</a:t>
            </a:r>
            <a:endParaRPr sz="1500"/>
          </a:p>
        </p:txBody>
      </p:sp>
      <p:sp>
        <p:nvSpPr>
          <p:cNvPr id="413" name="Google Shape;413;p25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47484"/>
                </a:solidFill>
                <a:latin typeface="Arial"/>
                <a:ea typeface="Arial"/>
                <a:cs typeface="Arial"/>
                <a:sym typeface="Arial"/>
              </a:rPr>
              <a:t>UBER EATS OPERATIONAL &amp; CUSTOMER INTELLIGENCE SYSTEM</a:t>
            </a:r>
            <a:endParaRPr/>
          </a:p>
        </p:txBody>
      </p:sp>
      <p:sp>
        <p:nvSpPr>
          <p:cNvPr id="414" name="Google Shape;414;p25"/>
          <p:cNvSpPr/>
          <p:nvPr/>
        </p:nvSpPr>
        <p:spPr>
          <a:xfrm>
            <a:off x="11292840" y="164592"/>
            <a:ext cx="384048" cy="384048"/>
          </a:xfrm>
          <a:prstGeom prst="ellipse">
            <a:avLst/>
          </a:prstGeom>
          <a:solidFill>
            <a:srgbClr val="DEF1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F3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6"/>
          <p:cNvSpPr txBox="1"/>
          <p:nvPr/>
        </p:nvSpPr>
        <p:spPr>
          <a:xfrm>
            <a:off x="777240" y="59436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4F1E5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6"/>
          <p:cNvSpPr txBox="1"/>
          <p:nvPr/>
        </p:nvSpPr>
        <p:spPr>
          <a:xfrm>
            <a:off x="777240" y="1234440"/>
            <a:ext cx="64008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data to</a:t>
            </a:r>
            <a:b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solidFill>
                  <a:srgbClr val="FFFFFF"/>
                </a:solidFill>
              </a:rPr>
              <a:t>B</a:t>
            </a: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usiness </a:t>
            </a:r>
            <a:r>
              <a:rPr b="1" lang="en-US" sz="3400">
                <a:solidFill>
                  <a:srgbClr val="FFFFFF"/>
                </a:solidFill>
              </a:rPr>
              <a:t>D</a:t>
            </a: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ecisions.</a:t>
            </a:r>
            <a:endParaRPr/>
          </a:p>
        </p:txBody>
      </p:sp>
      <p:sp>
        <p:nvSpPr>
          <p:cNvPr id="421" name="Google Shape;421;p26"/>
          <p:cNvSpPr txBox="1"/>
          <p:nvPr/>
        </p:nvSpPr>
        <p:spPr>
          <a:xfrm>
            <a:off x="777260" y="2674940"/>
            <a:ext cx="8046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D8E3ED"/>
                </a:solidFill>
                <a:latin typeface="Arial"/>
                <a:ea typeface="Arial"/>
                <a:cs typeface="Arial"/>
                <a:sym typeface="Arial"/>
              </a:rPr>
              <a:t>The project demonstrates how customer, restaurant, review, delivery and order data can be combined with machine learning to support operational understanding and decision-making.</a:t>
            </a:r>
            <a:endParaRPr sz="1600"/>
          </a:p>
        </p:txBody>
      </p:sp>
      <p:sp>
        <p:nvSpPr>
          <p:cNvPr id="422" name="Google Shape;422;p26"/>
          <p:cNvSpPr txBox="1"/>
          <p:nvPr/>
        </p:nvSpPr>
        <p:spPr>
          <a:xfrm>
            <a:off x="822960" y="5166360"/>
            <a:ext cx="3657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4F1E5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Thank you</a:t>
            </a:r>
            <a:endParaRPr sz="1700"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9235440" y="1097280"/>
            <a:ext cx="1371600" cy="1371600"/>
          </a:xfrm>
          <a:prstGeom prst="ellipse">
            <a:avLst/>
          </a:prstGeom>
          <a:solidFill>
            <a:srgbClr val="00AA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10241280" y="2834640"/>
            <a:ext cx="822960" cy="822960"/>
          </a:xfrm>
          <a:prstGeom prst="ellipse">
            <a:avLst/>
          </a:prstGeom>
          <a:solidFill>
            <a:srgbClr val="EF99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8778240" y="4114800"/>
            <a:ext cx="594360" cy="594360"/>
          </a:xfrm>
          <a:prstGeom prst="ellipse">
            <a:avLst/>
          </a:prstGeom>
          <a:solidFill>
            <a:srgbClr val="C4F1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B4C4D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